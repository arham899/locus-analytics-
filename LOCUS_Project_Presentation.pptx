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8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2011680" cy="45720"/>
          </a:xfrm>
          <a:prstGeom prst="rect">
            <a:avLst/>
          </a:prstGeom>
          <a:solidFill>
            <a:srgbClr val="1EC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4FF"/>
                </a:solidFill>
                <a:latin typeface="Segoe UI Semibold"/>
              </a:defRPr>
            </a:pPr>
            <a:r>
              <a:t>LOCUS Analytics</a:t>
            </a:r>
          </a:p>
          <a:p>
            <a:pPr>
              <a:defRPr sz="1300">
                <a:solidFill>
                  <a:srgbClr val="98B2D2"/>
                </a:solidFill>
                <a:latin typeface="Segoe UI"/>
              </a:defRPr>
            </a:pPr>
            <a:r>
              <a:t>Institutional Real-Estate Intelligence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94960" cy="2743200"/>
          </a:xfrm>
          <a:prstGeom prst="roundRect">
            <a:avLst/>
          </a:prstGeom>
          <a:solidFill>
            <a:srgbClr val="08193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48536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CF4FF"/>
                </a:solidFill>
                <a:latin typeface="Segoe UI Semibold"/>
              </a:defRPr>
            </a:pPr>
            <a:r>
              <a:rPr sz="2400" dirty="0"/>
              <a:t>Project Presentation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FAST-NUCES </a:t>
            </a:r>
            <a:r>
              <a:rPr lang="en-US" sz="2400" dirty="0"/>
              <a:t>SDA Project</a:t>
            </a:r>
            <a:endParaRPr sz="2400" dirty="0"/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Team: Fasih</a:t>
            </a:r>
            <a:r>
              <a:rPr lang="en-US" sz="2400" dirty="0"/>
              <a:t> 24i-5017</a:t>
            </a:r>
            <a:r>
              <a:rPr sz="2400" dirty="0"/>
              <a:t> | Arham</a:t>
            </a:r>
            <a:r>
              <a:rPr lang="en-US" sz="2400" dirty="0"/>
              <a:t> 24i-0640</a:t>
            </a:r>
            <a:r>
              <a:rPr sz="2400" dirty="0"/>
              <a:t> | Ayaan</a:t>
            </a:r>
            <a:r>
              <a:rPr lang="en-US" sz="2400" dirty="0"/>
              <a:t> 24i-0663</a:t>
            </a:r>
            <a:endParaRPr sz="2400" dirty="0"/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Data-driven property intelligence for Pakistan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806932" cy="475488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__Users_user_AppData_Roaming_Cursor_User_workspaceStorage_a8eb15904b9fa38a205530e3cb9d22e5_images_image-c34bca25-7a02-492e-a016-5283c5bb2e07.png"/>
          <p:cNvPicPr>
            <a:picLocks noChangeAspect="1"/>
          </p:cNvPicPr>
          <p:nvPr/>
        </p:nvPicPr>
        <p:blipFill>
          <a:blip r:embed="rId2"/>
          <a:srcRect l="-351" t="4327" r="-351" b="4327"/>
          <a:stretch>
            <a:fillRect/>
          </a:stretch>
        </p:blipFill>
        <p:spPr>
          <a:xfrm>
            <a:off x="6309360" y="1307592"/>
            <a:ext cx="5577840" cy="40965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6355080" y="555040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t>Login / Brand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2011680" cy="45720"/>
          </a:xfrm>
          <a:prstGeom prst="rect">
            <a:avLst/>
          </a:prstGeom>
          <a:solidFill>
            <a:srgbClr val="1EC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4FF"/>
                </a:solidFill>
                <a:latin typeface="Segoe UI Semibold"/>
              </a:defRPr>
            </a:pPr>
            <a:r>
              <a:t>Project Idea</a:t>
            </a:r>
          </a:p>
          <a:p>
            <a:pPr>
              <a:defRPr sz="1300">
                <a:solidFill>
                  <a:srgbClr val="98B2D2"/>
                </a:solidFill>
                <a:latin typeface="Segoe UI"/>
              </a:defRPr>
            </a:pPr>
            <a:r>
              <a:t>What problem are we solving?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577840" cy="5120640"/>
          </a:xfrm>
          <a:prstGeom prst="roundRect">
            <a:avLst/>
          </a:prstGeom>
          <a:solidFill>
            <a:srgbClr val="08193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6691" y="2110228"/>
            <a:ext cx="50046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CF4FF"/>
                </a:solidFill>
                <a:latin typeface="Segoe UI Semibold"/>
              </a:defRPr>
            </a:pPr>
            <a:r>
              <a:rPr sz="2400" b="1" dirty="0"/>
              <a:t>Core Idea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Replace fragmented manual analysis with one integrated platform.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Enable reliable FMV, ROI, rental yield, and market insight workflows.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Support both analyst operations and admin data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120640" cy="356616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__Users_user_AppData_Roaming_Cursor_User_workspaceStorage_a8eb15904b9fa38a205530e3cb9d22e5_images_image-4edf3302-995d-4ece-a9dd-77bf8ffd2a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531" y="1897380"/>
            <a:ext cx="4974336" cy="30632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6537960" y="4956048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t>FMV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2011680" cy="45720"/>
          </a:xfrm>
          <a:prstGeom prst="rect">
            <a:avLst/>
          </a:prstGeom>
          <a:solidFill>
            <a:srgbClr val="1EC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4FF"/>
                </a:solidFill>
                <a:latin typeface="Segoe UI Semibold"/>
              </a:defRPr>
            </a:pPr>
            <a:r>
              <a:t>System Overview</a:t>
            </a:r>
          </a:p>
          <a:p>
            <a:pPr>
              <a:defRPr sz="1300">
                <a:solidFill>
                  <a:srgbClr val="98B2D2"/>
                </a:solidFill>
                <a:latin typeface="Segoe UI"/>
              </a:defRPr>
            </a:pPr>
            <a:r>
              <a:t>Architecture and product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486400" cy="5120640"/>
          </a:xfrm>
          <a:prstGeom prst="roundRect">
            <a:avLst/>
          </a:prstGeom>
          <a:solidFill>
            <a:srgbClr val="08193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846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CF4FF"/>
                </a:solidFill>
                <a:latin typeface="Segoe UI Semibold"/>
              </a:defRPr>
            </a:pPr>
            <a:r>
              <a:rPr sz="2400" dirty="0"/>
              <a:t>Overview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JavaFX Desktop UI with role-based access (Analyst/Admin).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Layered architecture: UI -&gt; Services -&gt; DAOs -&gt; PostgreSQL.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Python ETL + ML pipeline integrated with reporting workflows.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Client-facing PDF valuation report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5120640" cy="242316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__Users_user_AppData_Roaming_Cursor_User_workspaceStorage_a8eb15904b9fa38a205530e3cb9d22e5_images_image-a32a858d-4123-4e29-90e0-9dba19f9f3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216152"/>
            <a:ext cx="4974336" cy="19202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6537960" y="3218688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t>ROI &amp; Yield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94760"/>
            <a:ext cx="5120640" cy="242316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__Users_user_AppData_Roaming_Cursor_User_workspaceStorage_a8eb15904b9fa38a205530e3cb9d22e5_images_image-78600b60-e166-4a69-937e-9dda0ec6d8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867912"/>
            <a:ext cx="4974336" cy="19202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TextBox 12"/>
          <p:cNvSpPr txBox="1"/>
          <p:nvPr/>
        </p:nvSpPr>
        <p:spPr>
          <a:xfrm>
            <a:off x="6537960" y="5870448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t>Heatmap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2011680" cy="45720"/>
          </a:xfrm>
          <a:prstGeom prst="rect">
            <a:avLst/>
          </a:prstGeom>
          <a:solidFill>
            <a:srgbClr val="1EC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4FF"/>
                </a:solidFill>
                <a:latin typeface="Segoe UI Semibold"/>
              </a:defRPr>
            </a:pPr>
            <a:r>
              <a:t>Implemented Use-Cases</a:t>
            </a:r>
          </a:p>
          <a:p>
            <a:pPr>
              <a:defRPr sz="1300">
                <a:solidFill>
                  <a:srgbClr val="98B2D2"/>
                </a:solidFill>
                <a:latin typeface="Segoe UI"/>
              </a:defRPr>
            </a:pPr>
            <a:r>
              <a:t>Analyst workflows (UC-1 to UC-9)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669280" cy="5120640"/>
          </a:xfrm>
          <a:prstGeom prst="roundRect">
            <a:avLst/>
          </a:prstGeom>
          <a:solidFill>
            <a:srgbClr val="08193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5230" y="1719072"/>
            <a:ext cx="4698979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CF4FF"/>
                </a:solidFill>
                <a:latin typeface="Segoe UI Semibold"/>
              </a:defRPr>
            </a:pPr>
            <a:r>
              <a:rPr sz="2400" dirty="0"/>
              <a:t>Analyst Use-Cases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UC-1 FMV Estimation    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UC-2 Rental Yield    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UC-3 ROI Analysis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UC-4 Search Properties 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UC-5 Compare Properties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UC-6 Price Trends      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UC-7 Heatmap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UC-8 PDF Report Generation  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UC-9 Investment Clusters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143000"/>
            <a:ext cx="4983480" cy="512064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__Users_user_AppData_Roaming_Cursor_User_workspaceStorage_a8eb15904b9fa38a205530e3cb9d22e5_images_image-41f6347c-4d35-4319-95f0-4ecce86ca3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484670"/>
            <a:ext cx="4555896" cy="43492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6675120" y="5916168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t>Reporting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2011680" cy="45720"/>
          </a:xfrm>
          <a:prstGeom prst="rect">
            <a:avLst/>
          </a:prstGeom>
          <a:solidFill>
            <a:srgbClr val="1EC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4FF"/>
                </a:solidFill>
                <a:latin typeface="Segoe UI Semibold"/>
              </a:defRPr>
            </a:pPr>
            <a:r>
              <a:t>Implemented Use-Cases</a:t>
            </a:r>
          </a:p>
          <a:p>
            <a:pPr>
              <a:defRPr sz="1300">
                <a:solidFill>
                  <a:srgbClr val="98B2D2"/>
                </a:solidFill>
                <a:latin typeface="Segoe UI"/>
              </a:defRPr>
            </a:pPr>
            <a:r>
              <a:t>Administrator workflows (UC-10 to UC-12)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42417" cy="5120640"/>
          </a:xfrm>
          <a:prstGeom prst="roundRect">
            <a:avLst/>
          </a:prstGeom>
          <a:solidFill>
            <a:srgbClr val="08193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3280" y="1717268"/>
            <a:ext cx="30309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CF4FF"/>
                </a:solidFill>
                <a:latin typeface="Segoe UI Semibold"/>
              </a:defRPr>
            </a:pPr>
            <a:r>
              <a:rPr sz="2400" dirty="0"/>
              <a:t>Admin Use-Cases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UC-10 Run ETL Pipeline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UC-11 Manage Property Listings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UC-12 Manage System Configuration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400" dirty="0"/>
              <a:t>• Admin role can also perform analyst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6816" y="1142999"/>
            <a:ext cx="3567143" cy="3773129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2558" y="4463430"/>
            <a:ext cx="85311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rPr dirty="0"/>
              <a:t>ETL 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143000"/>
            <a:ext cx="2970816" cy="246888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5398" y="3264408"/>
            <a:ext cx="6479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rPr dirty="0"/>
              <a:t>Listings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794760"/>
            <a:ext cx="2970817" cy="2468880"/>
          </a:xfrm>
          <a:prstGeom prst="roundRect">
            <a:avLst/>
          </a:prstGeom>
          <a:solidFill>
            <a:srgbClr val="0B244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57427" y="5899663"/>
            <a:ext cx="104387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8B2D2"/>
                </a:solidFill>
                <a:latin typeface="Segoe UI"/>
              </a:defRPr>
            </a:pPr>
            <a:r>
              <a:rPr dirty="0"/>
              <a:t>Configuration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F4835F-F3DD-1639-D214-699775C1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173" y="1319970"/>
            <a:ext cx="3291841" cy="31434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3DBF0A-5BB8-CDE1-1C22-45F62859D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77" y="1248697"/>
            <a:ext cx="2736467" cy="20243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816E7D-07E6-0718-D936-979397711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311" y="3991965"/>
            <a:ext cx="2776434" cy="19076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2011680" cy="45720"/>
          </a:xfrm>
          <a:prstGeom prst="rect">
            <a:avLst/>
          </a:prstGeom>
          <a:solidFill>
            <a:srgbClr val="1EC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4FF"/>
                </a:solidFill>
                <a:latin typeface="Segoe UI Semibold"/>
              </a:defRPr>
            </a:pPr>
            <a:r>
              <a:t>Project Value</a:t>
            </a:r>
          </a:p>
          <a:p>
            <a:pPr>
              <a:defRPr sz="1300">
                <a:solidFill>
                  <a:srgbClr val="98B2D2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554480"/>
            <a:ext cx="10149840" cy="3566160"/>
          </a:xfrm>
          <a:prstGeom prst="roundRect">
            <a:avLst/>
          </a:prstGeom>
          <a:solidFill>
            <a:srgbClr val="081936"/>
          </a:solidFill>
          <a:ln>
            <a:solidFill>
              <a:srgbClr val="174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719072"/>
            <a:ext cx="948715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CF4FF"/>
                </a:solidFill>
                <a:latin typeface="Segoe UI Semibold"/>
              </a:defRPr>
            </a:pPr>
            <a:r>
              <a:rPr sz="2800" dirty="0"/>
              <a:t>Delivered Impact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800" dirty="0"/>
              <a:t>• One platform for valuation, market intelligence, and operational control.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800" dirty="0"/>
              <a:t>• Decision support through transparent analytics workflows.</a:t>
            </a:r>
          </a:p>
          <a:p>
            <a:pPr>
              <a:defRPr sz="1600">
                <a:solidFill>
                  <a:srgbClr val="ECF4FF"/>
                </a:solidFill>
                <a:latin typeface="Segoe UI"/>
              </a:defRPr>
            </a:pPr>
            <a:r>
              <a:rPr sz="2800" dirty="0"/>
              <a:t>• Scalable architecture for future extensions (cities, features, channels).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ECDA0"/>
                </a:solidFill>
                <a:latin typeface="Segoe UI Semibold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257</Words>
  <Application>Microsoft Office PowerPoint</Application>
  <PresentationFormat>On-screen Show (4:3)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Ayaan Aman</cp:lastModifiedBy>
  <cp:revision>2</cp:revision>
  <dcterms:created xsi:type="dcterms:W3CDTF">2013-01-27T09:14:16Z</dcterms:created>
  <dcterms:modified xsi:type="dcterms:W3CDTF">2026-05-07T17:06:43Z</dcterms:modified>
  <cp:category/>
</cp:coreProperties>
</file>